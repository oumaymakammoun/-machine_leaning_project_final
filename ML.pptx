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ileron Ultra-Bold" charset="1" panose="00000A00000000000000"/>
      <p:regular r:id="rId19"/>
    </p:embeddedFont>
    <p:embeddedFont>
      <p:font typeface="Public Sans" charset="1" panose="00000000000000000000"/>
      <p:regular r:id="rId20"/>
    </p:embeddedFont>
    <p:embeddedFont>
      <p:font typeface="Public Sans Bold" charset="1" panose="00000000000000000000"/>
      <p:regular r:id="rId21"/>
    </p:embeddedFont>
    <p:embeddedFont>
      <p:font typeface="Public Sans Bold Italics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1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jpe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Relationship Id="rId4" Target="../media/image1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jpeg" Type="http://schemas.openxmlformats.org/officeDocument/2006/relationships/image"/><Relationship Id="rId6" Target="../media/image27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Relationship Id="rId3" Target="../media/image31.jpeg" Type="http://schemas.openxmlformats.org/officeDocument/2006/relationships/image"/><Relationship Id="rId4" Target="../media/image3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65787"/>
            <a:ext cx="705002" cy="691783"/>
          </a:xfrm>
          <a:custGeom>
            <a:avLst/>
            <a:gdLst/>
            <a:ahLst/>
            <a:cxnLst/>
            <a:rect r="r" b="b" t="t" l="l"/>
            <a:pathLst>
              <a:path h="691783" w="705002">
                <a:moveTo>
                  <a:pt x="0" y="0"/>
                </a:moveTo>
                <a:lnTo>
                  <a:pt x="705002" y="0"/>
                </a:lnTo>
                <a:lnTo>
                  <a:pt x="705002" y="691783"/>
                </a:lnTo>
                <a:lnTo>
                  <a:pt x="0" y="6917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9527967" y="859028"/>
            <a:ext cx="8341089" cy="8587993"/>
          </a:xfrm>
          <a:custGeom>
            <a:avLst/>
            <a:gdLst/>
            <a:ahLst/>
            <a:cxnLst/>
            <a:rect r="r" b="b" t="t" l="l"/>
            <a:pathLst>
              <a:path h="8587993" w="8341089">
                <a:moveTo>
                  <a:pt x="0" y="0"/>
                </a:moveTo>
                <a:lnTo>
                  <a:pt x="8341088" y="0"/>
                </a:lnTo>
                <a:lnTo>
                  <a:pt x="8341088" y="8587994"/>
                </a:lnTo>
                <a:lnTo>
                  <a:pt x="0" y="85879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607694" y="1999375"/>
            <a:ext cx="6346737" cy="634673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161849" y="9982387"/>
            <a:ext cx="18449849" cy="304613"/>
            <a:chOff x="0" y="0"/>
            <a:chExt cx="4859220" cy="802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59220" cy="80227"/>
            </a:xfrm>
            <a:custGeom>
              <a:avLst/>
              <a:gdLst/>
              <a:ahLst/>
              <a:cxnLst/>
              <a:rect r="r" b="b" t="t" l="l"/>
              <a:pathLst>
                <a:path h="80227" w="4859220">
                  <a:moveTo>
                    <a:pt x="0" y="0"/>
                  </a:moveTo>
                  <a:lnTo>
                    <a:pt x="4859220" y="0"/>
                  </a:lnTo>
                  <a:lnTo>
                    <a:pt x="4859220" y="80227"/>
                  </a:lnTo>
                  <a:lnTo>
                    <a:pt x="0" y="80227"/>
                  </a:lnTo>
                  <a:close/>
                </a:path>
              </a:pathLst>
            </a:custGeom>
            <a:solidFill>
              <a:srgbClr val="004CC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859220" cy="127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86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606693"/>
            <a:ext cx="8266432" cy="3113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09"/>
              </a:lnSpc>
              <a:spcBef>
                <a:spcPct val="0"/>
              </a:spcBef>
            </a:pPr>
            <a:r>
              <a:rPr lang="en-US" b="true" sz="5763" strike="noStrike" u="none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Analyse Comportementale Clientèle Retail — ML GI2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936938"/>
            <a:ext cx="8147369" cy="104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12"/>
              </a:lnSpc>
            </a:pPr>
            <a:r>
              <a:rPr lang="en-US" sz="2937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Projet Machine Learning | Université GI2S3</a:t>
            </a:r>
          </a:p>
          <a:p>
            <a:pPr algn="l" marL="0" indent="0" lvl="0">
              <a:lnSpc>
                <a:spcPts val="4112"/>
              </a:lnSpc>
            </a:pPr>
            <a:r>
              <a:rPr lang="en-US" sz="2937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Preparé par :Oumayma Kammoun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457357"/>
            <a:ext cx="2740571" cy="39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sz="21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4372 clients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761612"/>
            <a:ext cx="3284833" cy="55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8"/>
              </a:lnSpc>
            </a:pPr>
            <a:r>
              <a:rPr lang="en-US" b="true" sz="3213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52 features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56937" y="8457357"/>
            <a:ext cx="4193505" cy="39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sz="21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3 modèles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56937" y="8761612"/>
            <a:ext cx="5356137" cy="55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8"/>
              </a:lnSpc>
            </a:pPr>
            <a:r>
              <a:rPr lang="en-US" b="true" sz="3213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 Flask app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91839" y="944366"/>
            <a:ext cx="6044792" cy="47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9"/>
              </a:lnSpc>
              <a:spcBef>
                <a:spcPct val="0"/>
              </a:spcBef>
            </a:pPr>
            <a:r>
              <a:rPr lang="en-US" b="true" sz="276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Projet ML GI2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41338" y="8040626"/>
            <a:ext cx="18288000" cy="2891960"/>
            <a:chOff x="0" y="0"/>
            <a:chExt cx="4816593" cy="7616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761668"/>
            </a:xfrm>
            <a:custGeom>
              <a:avLst/>
              <a:gdLst/>
              <a:ahLst/>
              <a:cxnLst/>
              <a:rect r="r" b="b" t="t" l="l"/>
              <a:pathLst>
                <a:path h="76166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61668"/>
                  </a:lnTo>
                  <a:lnTo>
                    <a:pt x="0" y="761668"/>
                  </a:lnTo>
                  <a:close/>
                </a:path>
              </a:pathLst>
            </a:custGeom>
            <a:solidFill>
              <a:srgbClr val="0E62F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809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974124" y="-857273"/>
            <a:ext cx="9574225" cy="4787112"/>
            <a:chOff x="0" y="0"/>
            <a:chExt cx="6350000" cy="317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6350000">
                  <a:moveTo>
                    <a:pt x="3175000" y="3175000"/>
                  </a:moveTo>
                  <a:cubicBezTo>
                    <a:pt x="1421498" y="3175000"/>
                    <a:pt x="0" y="1753502"/>
                    <a:pt x="0" y="0"/>
                  </a:cubicBezTo>
                  <a:lnTo>
                    <a:pt x="6350000" y="0"/>
                  </a:lnTo>
                  <a:cubicBezTo>
                    <a:pt x="6350000" y="1753502"/>
                    <a:pt x="4928502" y="3175000"/>
                    <a:pt x="3175000" y="3175000"/>
                  </a:cubicBezTo>
                  <a:close/>
                </a:path>
              </a:pathLst>
            </a:custGeom>
            <a:blipFill>
              <a:blip r:embed="rId3"/>
              <a:stretch>
                <a:fillRect l="0" t="-7000" r="0" b="-7000"/>
              </a:stretch>
            </a:blipFill>
            <a:ln w="190500" cap="sq">
              <a:solidFill>
                <a:srgbClr val="0E62F2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3441647">
            <a:off x="15731462" y="4847411"/>
            <a:ext cx="6394424" cy="6386431"/>
          </a:xfrm>
          <a:custGeom>
            <a:avLst/>
            <a:gdLst/>
            <a:ahLst/>
            <a:cxnLst/>
            <a:rect r="r" b="b" t="t" l="l"/>
            <a:pathLst>
              <a:path h="6386431" w="6394424">
                <a:moveTo>
                  <a:pt x="0" y="0"/>
                </a:moveTo>
                <a:lnTo>
                  <a:pt x="6394424" y="0"/>
                </a:lnTo>
                <a:lnTo>
                  <a:pt x="6394424" y="6386431"/>
                </a:lnTo>
                <a:lnTo>
                  <a:pt x="0" y="63864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true" flipV="false" rot="-3444000">
            <a:off x="-3838550" y="4847411"/>
            <a:ext cx="6394424" cy="6386431"/>
          </a:xfrm>
          <a:custGeom>
            <a:avLst/>
            <a:gdLst/>
            <a:ahLst/>
            <a:cxnLst/>
            <a:rect r="r" b="b" t="t" l="l"/>
            <a:pathLst>
              <a:path h="6386431" w="6394424">
                <a:moveTo>
                  <a:pt x="6394424" y="0"/>
                </a:moveTo>
                <a:lnTo>
                  <a:pt x="0" y="0"/>
                </a:lnTo>
                <a:lnTo>
                  <a:pt x="0" y="6386431"/>
                </a:lnTo>
                <a:lnTo>
                  <a:pt x="6394424" y="6386431"/>
                </a:lnTo>
                <a:lnTo>
                  <a:pt x="63944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1028700" y="9921148"/>
            <a:ext cx="16230600" cy="3086100"/>
            <a:chOff x="0" y="0"/>
            <a:chExt cx="4274726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74726" cy="812800"/>
            </a:xfrm>
            <a:custGeom>
              <a:avLst/>
              <a:gdLst/>
              <a:ahLst/>
              <a:cxnLst/>
              <a:rect r="r" b="b" t="t" l="l"/>
              <a:pathLst>
                <a:path h="812800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E62F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274726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39069" y="2003982"/>
            <a:ext cx="10781146" cy="6036644"/>
            <a:chOff x="0" y="0"/>
            <a:chExt cx="2211245" cy="12381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1245" cy="1238134"/>
            </a:xfrm>
            <a:custGeom>
              <a:avLst/>
              <a:gdLst/>
              <a:ahLst/>
              <a:cxnLst/>
              <a:rect r="r" b="b" t="t" l="l"/>
              <a:pathLst>
                <a:path h="1238134" w="2211245">
                  <a:moveTo>
                    <a:pt x="17234" y="0"/>
                  </a:moveTo>
                  <a:lnTo>
                    <a:pt x="2194011" y="0"/>
                  </a:lnTo>
                  <a:cubicBezTo>
                    <a:pt x="2198581" y="0"/>
                    <a:pt x="2202965" y="1816"/>
                    <a:pt x="2206197" y="5048"/>
                  </a:cubicBezTo>
                  <a:cubicBezTo>
                    <a:pt x="2209429" y="8280"/>
                    <a:pt x="2211245" y="12664"/>
                    <a:pt x="2211245" y="17234"/>
                  </a:cubicBezTo>
                  <a:lnTo>
                    <a:pt x="2211245" y="1220899"/>
                  </a:lnTo>
                  <a:cubicBezTo>
                    <a:pt x="2211245" y="1225470"/>
                    <a:pt x="2209429" y="1229854"/>
                    <a:pt x="2206197" y="1233086"/>
                  </a:cubicBezTo>
                  <a:cubicBezTo>
                    <a:pt x="2202965" y="1236318"/>
                    <a:pt x="2198581" y="1238134"/>
                    <a:pt x="2194011" y="1238134"/>
                  </a:cubicBezTo>
                  <a:lnTo>
                    <a:pt x="17234" y="1238134"/>
                  </a:lnTo>
                  <a:cubicBezTo>
                    <a:pt x="7716" y="1238134"/>
                    <a:pt x="0" y="1230418"/>
                    <a:pt x="0" y="1220899"/>
                  </a:cubicBezTo>
                  <a:lnTo>
                    <a:pt x="0" y="17234"/>
                  </a:lnTo>
                  <a:cubicBezTo>
                    <a:pt x="0" y="12664"/>
                    <a:pt x="1816" y="8280"/>
                    <a:pt x="5048" y="5048"/>
                  </a:cubicBezTo>
                  <a:cubicBezTo>
                    <a:pt x="8280" y="1816"/>
                    <a:pt x="12664" y="0"/>
                    <a:pt x="17234" y="0"/>
                  </a:cubicBezTo>
                  <a:close/>
                </a:path>
              </a:pathLst>
            </a:custGeom>
            <a:ln w="66675" cap="rnd">
              <a:solidFill>
                <a:srgbClr val="0E62F2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2211245" cy="1314334"/>
            </a:xfrm>
            <a:prstGeom prst="rect">
              <a:avLst/>
            </a:prstGeom>
          </p:spPr>
          <p:txBody>
            <a:bodyPr anchor="ctr" rtlCol="false" tIns="55632" lIns="55632" bIns="55632" rIns="55632"/>
            <a:lstStyle/>
            <a:p>
              <a:pPr algn="l">
                <a:lnSpc>
                  <a:spcPts val="5637"/>
                </a:lnSpc>
              </a:pPr>
              <a:r>
                <a:rPr lang="en-US" sz="4027" b="true">
                  <a:solidFill>
                    <a:srgbClr val="004CC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1-Dataset &amp; Problématique</a:t>
              </a:r>
            </a:p>
            <a:p>
              <a:pPr algn="l">
                <a:lnSpc>
                  <a:spcPts val="5637"/>
                </a:lnSpc>
              </a:pPr>
              <a:r>
                <a:rPr lang="en-US" sz="4027" b="true">
                  <a:solidFill>
                    <a:srgbClr val="004CC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2-Présentation du Projet</a:t>
              </a:r>
            </a:p>
            <a:p>
              <a:pPr algn="l">
                <a:lnSpc>
                  <a:spcPts val="5637"/>
                </a:lnSpc>
              </a:pPr>
              <a:r>
                <a:rPr lang="en-US" sz="4027" b="true">
                  <a:solidFill>
                    <a:srgbClr val="004CC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3-Pipeline Préparation</a:t>
              </a:r>
            </a:p>
            <a:p>
              <a:pPr algn="l">
                <a:lnSpc>
                  <a:spcPts val="5637"/>
                </a:lnSpc>
              </a:pPr>
              <a:r>
                <a:rPr lang="en-US" sz="4027" b="true">
                  <a:solidFill>
                    <a:srgbClr val="004CC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4- MODÉLISATION</a:t>
              </a:r>
            </a:p>
            <a:p>
              <a:pPr algn="l">
                <a:lnSpc>
                  <a:spcPts val="5637"/>
                </a:lnSpc>
              </a:pPr>
              <a:r>
                <a:rPr lang="en-US" sz="4027" b="true">
                  <a:solidFill>
                    <a:srgbClr val="004CC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5- Déploiement</a:t>
              </a:r>
            </a:p>
            <a:p>
              <a:pPr algn="l">
                <a:lnSpc>
                  <a:spcPts val="5637"/>
                </a:lnSpc>
              </a:pPr>
              <a:r>
                <a:rPr lang="en-US" sz="4027" b="true">
                  <a:solidFill>
                    <a:srgbClr val="004CC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6-Conclusion</a:t>
              </a:r>
            </a:p>
            <a:p>
              <a:pPr algn="l">
                <a:lnSpc>
                  <a:spcPts val="5637"/>
                </a:lnSpc>
              </a:pPr>
            </a:p>
            <a:p>
              <a:pPr algn="l" marL="0" indent="0" lvl="0">
                <a:lnSpc>
                  <a:spcPts val="5637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-2583735" y="321717"/>
            <a:ext cx="10742624" cy="121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341"/>
              </a:lnSpc>
              <a:spcBef>
                <a:spcPct val="0"/>
              </a:spcBef>
            </a:pPr>
            <a:r>
              <a:rPr lang="en-US" b="true" sz="8812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Plan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370204" y="7579806"/>
            <a:ext cx="10950316" cy="10936628"/>
          </a:xfrm>
          <a:custGeom>
            <a:avLst/>
            <a:gdLst/>
            <a:ahLst/>
            <a:cxnLst/>
            <a:rect r="r" b="b" t="t" l="l"/>
            <a:pathLst>
              <a:path h="10936628" w="10950316">
                <a:moveTo>
                  <a:pt x="10950316" y="0"/>
                </a:moveTo>
                <a:lnTo>
                  <a:pt x="0" y="0"/>
                </a:lnTo>
                <a:lnTo>
                  <a:pt x="0" y="10936628"/>
                </a:lnTo>
                <a:lnTo>
                  <a:pt x="10950316" y="10936628"/>
                </a:lnTo>
                <a:lnTo>
                  <a:pt x="1095031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621559" y="168249"/>
            <a:ext cx="9217297" cy="9490139"/>
          </a:xfrm>
          <a:custGeom>
            <a:avLst/>
            <a:gdLst/>
            <a:ahLst/>
            <a:cxnLst/>
            <a:rect r="r" b="b" t="t" l="l"/>
            <a:pathLst>
              <a:path h="9490139" w="9217297">
                <a:moveTo>
                  <a:pt x="0" y="0"/>
                </a:moveTo>
                <a:lnTo>
                  <a:pt x="9217297" y="0"/>
                </a:lnTo>
                <a:lnTo>
                  <a:pt x="9217297" y="9490138"/>
                </a:lnTo>
                <a:lnTo>
                  <a:pt x="0" y="94901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1710199" y="1309785"/>
            <a:ext cx="7040017" cy="704001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97999" y="3960763"/>
            <a:ext cx="7853904" cy="5553443"/>
            <a:chOff x="0" y="0"/>
            <a:chExt cx="2993957" cy="21170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93957" cy="2117007"/>
            </a:xfrm>
            <a:custGeom>
              <a:avLst/>
              <a:gdLst/>
              <a:ahLst/>
              <a:cxnLst/>
              <a:rect r="r" b="b" t="t" l="l"/>
              <a:pathLst>
                <a:path h="2117007" w="2993957">
                  <a:moveTo>
                    <a:pt x="39430" y="0"/>
                  </a:moveTo>
                  <a:lnTo>
                    <a:pt x="2954527" y="0"/>
                  </a:lnTo>
                  <a:cubicBezTo>
                    <a:pt x="2964985" y="0"/>
                    <a:pt x="2975014" y="4154"/>
                    <a:pt x="2982408" y="11549"/>
                  </a:cubicBezTo>
                  <a:cubicBezTo>
                    <a:pt x="2989803" y="18943"/>
                    <a:pt x="2993957" y="28972"/>
                    <a:pt x="2993957" y="39430"/>
                  </a:cubicBezTo>
                  <a:lnTo>
                    <a:pt x="2993957" y="2077578"/>
                  </a:lnTo>
                  <a:cubicBezTo>
                    <a:pt x="2993957" y="2099354"/>
                    <a:pt x="2976304" y="2117007"/>
                    <a:pt x="2954527" y="2117007"/>
                  </a:cubicBezTo>
                  <a:lnTo>
                    <a:pt x="39430" y="2117007"/>
                  </a:lnTo>
                  <a:cubicBezTo>
                    <a:pt x="17653" y="2117007"/>
                    <a:pt x="0" y="2099354"/>
                    <a:pt x="0" y="2077578"/>
                  </a:cubicBezTo>
                  <a:lnTo>
                    <a:pt x="0" y="39430"/>
                  </a:lnTo>
                  <a:cubicBezTo>
                    <a:pt x="0" y="17653"/>
                    <a:pt x="17653" y="0"/>
                    <a:pt x="3943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993957" cy="2164632"/>
            </a:xfrm>
            <a:prstGeom prst="rect">
              <a:avLst/>
            </a:prstGeom>
          </p:spPr>
          <p:txBody>
            <a:bodyPr anchor="ctr" rtlCol="false" tIns="35098" lIns="35098" bIns="35098" rIns="35098"/>
            <a:lstStyle/>
            <a:p>
              <a:pPr algn="ctr" marL="0" indent="0" lvl="0">
                <a:lnSpc>
                  <a:spcPts val="3257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907533" y="4296152"/>
            <a:ext cx="796052" cy="794515"/>
          </a:xfrm>
          <a:custGeom>
            <a:avLst/>
            <a:gdLst/>
            <a:ahLst/>
            <a:cxnLst/>
            <a:rect r="r" b="b" t="t" l="l"/>
            <a:pathLst>
              <a:path h="794515" w="796052">
                <a:moveTo>
                  <a:pt x="0" y="0"/>
                </a:moveTo>
                <a:lnTo>
                  <a:pt x="796052" y="0"/>
                </a:lnTo>
                <a:lnTo>
                  <a:pt x="796052" y="794515"/>
                </a:lnTo>
                <a:lnTo>
                  <a:pt x="0" y="7945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34478" y="5449828"/>
            <a:ext cx="932140" cy="818040"/>
          </a:xfrm>
          <a:custGeom>
            <a:avLst/>
            <a:gdLst/>
            <a:ahLst/>
            <a:cxnLst/>
            <a:rect r="r" b="b" t="t" l="l"/>
            <a:pathLst>
              <a:path h="818040" w="932140">
                <a:moveTo>
                  <a:pt x="0" y="0"/>
                </a:moveTo>
                <a:lnTo>
                  <a:pt x="932140" y="0"/>
                </a:lnTo>
                <a:lnTo>
                  <a:pt x="932140" y="818040"/>
                </a:lnTo>
                <a:lnTo>
                  <a:pt x="0" y="8180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868146" y="8250001"/>
            <a:ext cx="849313" cy="845453"/>
          </a:xfrm>
          <a:custGeom>
            <a:avLst/>
            <a:gdLst/>
            <a:ahLst/>
            <a:cxnLst/>
            <a:rect r="r" b="b" t="t" l="l"/>
            <a:pathLst>
              <a:path h="845453" w="849313">
                <a:moveTo>
                  <a:pt x="0" y="0"/>
                </a:moveTo>
                <a:lnTo>
                  <a:pt x="849314" y="0"/>
                </a:lnTo>
                <a:lnTo>
                  <a:pt x="849314" y="845453"/>
                </a:lnTo>
                <a:lnTo>
                  <a:pt x="0" y="8454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877841" y="7006738"/>
            <a:ext cx="801135" cy="976003"/>
          </a:xfrm>
          <a:custGeom>
            <a:avLst/>
            <a:gdLst/>
            <a:ahLst/>
            <a:cxnLst/>
            <a:rect r="r" b="b" t="t" l="l"/>
            <a:pathLst>
              <a:path h="976003" w="801135">
                <a:moveTo>
                  <a:pt x="0" y="0"/>
                </a:moveTo>
                <a:lnTo>
                  <a:pt x="801136" y="0"/>
                </a:lnTo>
                <a:lnTo>
                  <a:pt x="801136" y="976002"/>
                </a:lnTo>
                <a:lnTo>
                  <a:pt x="0" y="9760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3296616" y="4191362"/>
            <a:ext cx="5424240" cy="441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04"/>
              </a:lnSpc>
            </a:pPr>
            <a:r>
              <a:rPr lang="en-US" b="true" sz="2503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Distribution Churn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96616" y="5499075"/>
            <a:ext cx="4706506" cy="45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4"/>
              </a:lnSpc>
            </a:pPr>
            <a:r>
              <a:rPr lang="en-US" b="true" sz="2603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Problèmes Qualité Données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96616" y="4576502"/>
            <a:ext cx="4706506" cy="76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5"/>
              </a:lnSpc>
            </a:pPr>
            <a:r>
              <a:rPr lang="en-US" sz="214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67% non-churn | 33% churn → Déséquilibre classe cible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96616" y="5893740"/>
            <a:ext cx="4706506" cy="80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85"/>
              </a:lnSpc>
            </a:pPr>
            <a:r>
              <a:rPr lang="en-US" sz="234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Valeurs manquantes | Outliers | Features corrélées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96616" y="6812298"/>
            <a:ext cx="4706506" cy="46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84"/>
              </a:lnSpc>
            </a:pPr>
            <a:r>
              <a:rPr lang="en-US" b="true" sz="2703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Caractéristiques Dataset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96616" y="7187913"/>
            <a:ext cx="4706506" cy="85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5"/>
              </a:lnSpc>
            </a:pPr>
            <a:r>
              <a:rPr lang="en-US" sz="244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4372 clients | 52 features | Variables mixtes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96616" y="8106471"/>
            <a:ext cx="4706506" cy="45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4"/>
              </a:lnSpc>
            </a:pPr>
            <a:r>
              <a:rPr lang="en-US" b="true" sz="2603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Objectifs Projet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96616" y="8501136"/>
            <a:ext cx="4706506" cy="80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85"/>
              </a:lnSpc>
            </a:pPr>
            <a:r>
              <a:rPr lang="en-US" sz="234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Prédire churn | Segmenter clients | Déployer modèle Flask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7999" y="1042690"/>
            <a:ext cx="8084297" cy="729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8"/>
              </a:lnSpc>
              <a:spcBef>
                <a:spcPct val="0"/>
              </a:spcBef>
            </a:pPr>
            <a:r>
              <a:rPr lang="en-US" b="true" sz="5196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Dataset &amp; Problématique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1774" y="2015487"/>
            <a:ext cx="9016189" cy="88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55"/>
              </a:lnSpc>
            </a:pPr>
            <a:r>
              <a:rPr lang="en-US" sz="253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Analyse du dataset client retail : distribution déséquilibrée et défis qualité données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91029" y="1028700"/>
            <a:ext cx="6383965" cy="1890892"/>
            <a:chOff x="0" y="0"/>
            <a:chExt cx="2721368" cy="8060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21368" cy="806053"/>
            </a:xfrm>
            <a:custGeom>
              <a:avLst/>
              <a:gdLst/>
              <a:ahLst/>
              <a:cxnLst/>
              <a:rect r="r" b="b" t="t" l="l"/>
              <a:pathLst>
                <a:path h="806053" w="2721368">
                  <a:moveTo>
                    <a:pt x="48509" y="0"/>
                  </a:moveTo>
                  <a:lnTo>
                    <a:pt x="2672860" y="0"/>
                  </a:lnTo>
                  <a:cubicBezTo>
                    <a:pt x="2699650" y="0"/>
                    <a:pt x="2721368" y="21718"/>
                    <a:pt x="2721368" y="48509"/>
                  </a:cubicBezTo>
                  <a:lnTo>
                    <a:pt x="2721368" y="757544"/>
                  </a:lnTo>
                  <a:cubicBezTo>
                    <a:pt x="2721368" y="770410"/>
                    <a:pt x="2716258" y="782748"/>
                    <a:pt x="2707161" y="791845"/>
                  </a:cubicBezTo>
                  <a:cubicBezTo>
                    <a:pt x="2698063" y="800942"/>
                    <a:pt x="2685725" y="806053"/>
                    <a:pt x="2672860" y="806053"/>
                  </a:cubicBezTo>
                  <a:lnTo>
                    <a:pt x="48509" y="806053"/>
                  </a:lnTo>
                  <a:cubicBezTo>
                    <a:pt x="21718" y="806053"/>
                    <a:pt x="0" y="784335"/>
                    <a:pt x="0" y="757544"/>
                  </a:cubicBezTo>
                  <a:lnTo>
                    <a:pt x="0" y="48509"/>
                  </a:lnTo>
                  <a:cubicBezTo>
                    <a:pt x="0" y="21718"/>
                    <a:pt x="21718" y="0"/>
                    <a:pt x="48509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2721368" cy="891778"/>
            </a:xfrm>
            <a:prstGeom prst="rect">
              <a:avLst/>
            </a:prstGeom>
          </p:spPr>
          <p:txBody>
            <a:bodyPr anchor="ctr" rtlCol="false" tIns="31386" lIns="31386" bIns="31386" rIns="31386"/>
            <a:lstStyle/>
            <a:p>
              <a:pPr algn="ctr" marL="0" indent="0" lvl="0">
                <a:lnSpc>
                  <a:spcPts val="6057"/>
                </a:lnSpc>
              </a:pPr>
              <a:r>
                <a:rPr lang="en-US" b="true" sz="4327">
                  <a:solidFill>
                    <a:srgbClr val="0E62F2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Présentation du Projet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2871075">
            <a:off x="15648972" y="-2113556"/>
            <a:ext cx="4577126" cy="4516547"/>
          </a:xfrm>
          <a:custGeom>
            <a:avLst/>
            <a:gdLst/>
            <a:ahLst/>
            <a:cxnLst/>
            <a:rect r="r" b="b" t="t" l="l"/>
            <a:pathLst>
              <a:path h="4516547" w="4577126">
                <a:moveTo>
                  <a:pt x="0" y="0"/>
                </a:moveTo>
                <a:lnTo>
                  <a:pt x="4577126" y="0"/>
                </a:lnTo>
                <a:lnTo>
                  <a:pt x="4577126" y="4516546"/>
                </a:lnTo>
                <a:lnTo>
                  <a:pt x="0" y="4516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90488" y="3590103"/>
            <a:ext cx="5846445" cy="589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  <a:spcBef>
                <a:spcPct val="0"/>
              </a:spcBef>
            </a:pPr>
            <a:r>
              <a:rPr lang="en-US" b="true" sz="3427">
                <a:solidFill>
                  <a:srgbClr val="0E62F2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Objectifs et Contexte Métier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4687280"/>
            <a:ext cx="8957845" cy="298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  <a:spcBef>
                <a:spcPct val="0"/>
              </a:spcBef>
            </a:pPr>
            <a:r>
              <a:rPr lang="en-US" b="true" sz="3427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Objectif principal : Prédire le churn client pour optimiser leur fidélisation. Le problème business consiste à identifier les clients à risque avant leur départ afin d'activer des actions de rétention ciblées.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227627" y="3666303"/>
            <a:ext cx="4602849" cy="460284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w="123825" cap="sq">
              <a:solidFill>
                <a:srgbClr val="004CC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19239" r="-19959" b="-3137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740858">
            <a:off x="-2805050" y="7542511"/>
            <a:ext cx="7446069" cy="7511797"/>
          </a:xfrm>
          <a:custGeom>
            <a:avLst/>
            <a:gdLst/>
            <a:ahLst/>
            <a:cxnLst/>
            <a:rect r="r" b="b" t="t" l="l"/>
            <a:pathLst>
              <a:path h="7511797" w="7446069">
                <a:moveTo>
                  <a:pt x="0" y="0"/>
                </a:moveTo>
                <a:lnTo>
                  <a:pt x="7446069" y="0"/>
                </a:lnTo>
                <a:lnTo>
                  <a:pt x="7446069" y="7511796"/>
                </a:lnTo>
                <a:lnTo>
                  <a:pt x="0" y="7511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851169">
            <a:off x="15357483" y="7432386"/>
            <a:ext cx="5861034" cy="5912771"/>
          </a:xfrm>
          <a:custGeom>
            <a:avLst/>
            <a:gdLst/>
            <a:ahLst/>
            <a:cxnLst/>
            <a:rect r="r" b="b" t="t" l="l"/>
            <a:pathLst>
              <a:path h="5912771" w="5861034">
                <a:moveTo>
                  <a:pt x="0" y="0"/>
                </a:moveTo>
                <a:lnTo>
                  <a:pt x="5861034" y="0"/>
                </a:lnTo>
                <a:lnTo>
                  <a:pt x="5861034" y="5912770"/>
                </a:lnTo>
                <a:lnTo>
                  <a:pt x="0" y="5912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3248867" y="706270"/>
            <a:ext cx="10046987" cy="72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597"/>
              </a:lnSpc>
              <a:spcBef>
                <a:spcPct val="0"/>
              </a:spcBef>
            </a:pPr>
            <a:r>
              <a:rPr lang="en-US" b="true" sz="5280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Pipeline Préparation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8185" y="1727601"/>
            <a:ext cx="15691115" cy="785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9"/>
              </a:lnSpc>
              <a:spcBef>
                <a:spcPct val="0"/>
              </a:spcBef>
            </a:pPr>
            <a:r>
              <a:rPr lang="en-US" b="true" sz="3492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1-</a:t>
            </a:r>
            <a:r>
              <a:rPr lang="en-US" b="true" sz="3492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Chargement </a:t>
            </a:r>
          </a:p>
          <a:p>
            <a:pPr algn="ctr">
              <a:lnSpc>
                <a:spcPts val="4889"/>
              </a:lnSpc>
              <a:spcBef>
                <a:spcPct val="0"/>
              </a:spcBef>
            </a:pPr>
            <a:r>
              <a:rPr lang="en-US" b="true" sz="3492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2-Suppression Leakage </a:t>
            </a:r>
          </a:p>
          <a:p>
            <a:pPr algn="ctr">
              <a:lnSpc>
                <a:spcPts val="4889"/>
              </a:lnSpc>
              <a:spcBef>
                <a:spcPct val="0"/>
              </a:spcBef>
            </a:pPr>
            <a:r>
              <a:rPr lang="en-US" b="true" sz="3492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3-Correction Valeurs Aberrantes </a:t>
            </a:r>
          </a:p>
          <a:p>
            <a:pPr algn="ctr">
              <a:lnSpc>
                <a:spcPts val="4889"/>
              </a:lnSpc>
              <a:spcBef>
                <a:spcPct val="0"/>
              </a:spcBef>
            </a:pPr>
            <a:r>
              <a:rPr lang="en-US" b="true" sz="3492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4- Feature Engineering </a:t>
            </a:r>
          </a:p>
          <a:p>
            <a:pPr algn="ctr">
              <a:lnSpc>
                <a:spcPts val="4889"/>
              </a:lnSpc>
              <a:spcBef>
                <a:spcPct val="0"/>
              </a:spcBef>
            </a:pPr>
            <a:r>
              <a:rPr lang="en-US" b="true" sz="3492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5-Encodage Catégorielles </a:t>
            </a:r>
          </a:p>
          <a:p>
            <a:pPr algn="ctr">
              <a:lnSpc>
                <a:spcPts val="4889"/>
              </a:lnSpc>
              <a:spcBef>
                <a:spcPct val="0"/>
              </a:spcBef>
            </a:pPr>
            <a:r>
              <a:rPr lang="en-US" b="true" sz="3492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6-Séparation X / y</a:t>
            </a:r>
          </a:p>
          <a:p>
            <a:pPr algn="ctr">
              <a:lnSpc>
                <a:spcPts val="4889"/>
              </a:lnSpc>
              <a:spcBef>
                <a:spcPct val="0"/>
              </a:spcBef>
            </a:pPr>
            <a:r>
              <a:rPr lang="en-US" b="true" sz="3492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7-Train/Test Split</a:t>
            </a:r>
          </a:p>
          <a:p>
            <a:pPr algn="ctr">
              <a:lnSpc>
                <a:spcPts val="4889"/>
              </a:lnSpc>
              <a:spcBef>
                <a:spcPct val="0"/>
              </a:spcBef>
            </a:pPr>
            <a:r>
              <a:rPr lang="en-US" b="true" sz="3492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8-Imputation KNN </a:t>
            </a:r>
          </a:p>
          <a:p>
            <a:pPr algn="ctr">
              <a:lnSpc>
                <a:spcPts val="4889"/>
              </a:lnSpc>
              <a:spcBef>
                <a:spcPct val="0"/>
              </a:spcBef>
            </a:pPr>
            <a:r>
              <a:rPr lang="en-US" b="true" sz="3492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9-Suppression Multicolinéarité </a:t>
            </a:r>
          </a:p>
          <a:p>
            <a:pPr algn="ctr">
              <a:lnSpc>
                <a:spcPts val="4889"/>
              </a:lnSpc>
              <a:spcBef>
                <a:spcPct val="0"/>
              </a:spcBef>
            </a:pPr>
            <a:r>
              <a:rPr lang="en-US" b="true" sz="3492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10-Normalisation StandardScaler </a:t>
            </a:r>
          </a:p>
          <a:p>
            <a:pPr algn="ctr">
              <a:lnSpc>
                <a:spcPts val="4889"/>
              </a:lnSpc>
              <a:spcBef>
                <a:spcPct val="0"/>
              </a:spcBef>
            </a:pPr>
            <a:r>
              <a:rPr lang="en-US" b="true" sz="3492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11-Rééquilibrage SMOTE </a:t>
            </a:r>
          </a:p>
          <a:p>
            <a:pPr algn="ctr">
              <a:lnSpc>
                <a:spcPts val="4889"/>
              </a:lnSpc>
              <a:spcBef>
                <a:spcPct val="0"/>
              </a:spcBef>
            </a:pPr>
            <a:r>
              <a:rPr lang="en-US" b="true" sz="3492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12-Sauvegarde</a:t>
            </a:r>
          </a:p>
          <a:p>
            <a:pPr algn="ctr">
              <a:lnSpc>
                <a:spcPts val="334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61849" y="0"/>
            <a:ext cx="18449849" cy="376261"/>
            <a:chOff x="0" y="0"/>
            <a:chExt cx="4859220" cy="990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59220" cy="99098"/>
            </a:xfrm>
            <a:custGeom>
              <a:avLst/>
              <a:gdLst/>
              <a:ahLst/>
              <a:cxnLst/>
              <a:rect r="r" b="b" t="t" l="l"/>
              <a:pathLst>
                <a:path h="99098" w="4859220">
                  <a:moveTo>
                    <a:pt x="0" y="0"/>
                  </a:moveTo>
                  <a:lnTo>
                    <a:pt x="4859220" y="0"/>
                  </a:lnTo>
                  <a:lnTo>
                    <a:pt x="4859220" y="99098"/>
                  </a:lnTo>
                  <a:lnTo>
                    <a:pt x="0" y="99098"/>
                  </a:lnTo>
                  <a:close/>
                </a:path>
              </a:pathLst>
            </a:custGeom>
            <a:solidFill>
              <a:srgbClr val="0E62F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59220" cy="146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8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61849" y="9910739"/>
            <a:ext cx="18449849" cy="376261"/>
            <a:chOff x="0" y="0"/>
            <a:chExt cx="4859220" cy="99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59220" cy="99098"/>
            </a:xfrm>
            <a:custGeom>
              <a:avLst/>
              <a:gdLst/>
              <a:ahLst/>
              <a:cxnLst/>
              <a:rect r="r" b="b" t="t" l="l"/>
              <a:pathLst>
                <a:path h="99098" w="4859220">
                  <a:moveTo>
                    <a:pt x="0" y="0"/>
                  </a:moveTo>
                  <a:lnTo>
                    <a:pt x="4859220" y="0"/>
                  </a:lnTo>
                  <a:lnTo>
                    <a:pt x="4859220" y="99098"/>
                  </a:lnTo>
                  <a:lnTo>
                    <a:pt x="0" y="99098"/>
                  </a:lnTo>
                  <a:close/>
                </a:path>
              </a:pathLst>
            </a:custGeom>
            <a:solidFill>
              <a:srgbClr val="0E62F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859220" cy="146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8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33339" y="836839"/>
            <a:ext cx="13924905" cy="1425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4"/>
              </a:lnSpc>
              <a:spcBef>
                <a:spcPct val="0"/>
              </a:spcBef>
            </a:pPr>
            <a:r>
              <a:rPr lang="en-US" b="true" sz="5193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 MODÉLISATION</a:t>
            </a:r>
          </a:p>
          <a:p>
            <a:pPr algn="ctr" marL="0" indent="0" lvl="0">
              <a:lnSpc>
                <a:spcPts val="5504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713552" y="376261"/>
            <a:ext cx="2574448" cy="2497215"/>
          </a:xfrm>
          <a:custGeom>
            <a:avLst/>
            <a:gdLst/>
            <a:ahLst/>
            <a:cxnLst/>
            <a:rect r="r" b="b" t="t" l="l"/>
            <a:pathLst>
              <a:path h="2497215" w="2574448">
                <a:moveTo>
                  <a:pt x="0" y="0"/>
                </a:moveTo>
                <a:lnTo>
                  <a:pt x="2574448" y="0"/>
                </a:lnTo>
                <a:lnTo>
                  <a:pt x="2574448" y="2497215"/>
                </a:lnTo>
                <a:lnTo>
                  <a:pt x="0" y="2497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15407641" y="376261"/>
            <a:ext cx="2880359" cy="288035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123825" cap="sq">
              <a:solidFill>
                <a:srgbClr val="004CCF"/>
              </a:solidFill>
              <a:prstDash val="solid"/>
              <a:miter/>
            </a:ln>
          </p:spPr>
        </p:sp>
      </p:grpSp>
      <p:graphicFrame>
        <p:nvGraphicFramePr>
          <p:cNvPr name="Object 13" id="13"/>
          <p:cNvGraphicFramePr/>
          <p:nvPr/>
        </p:nvGraphicFramePr>
        <p:xfrm>
          <a:off x="1233339" y="2666103"/>
          <a:ext cx="7543800" cy="2514600"/>
        </p:xfrm>
        <a:graphic>
          <a:graphicData uri="http://schemas.openxmlformats.org/presentationml/2006/ole">
            <p:oleObj imgW="9042400" imgH="4013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88449" y="1123950"/>
            <a:ext cx="7466684" cy="1423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4"/>
              </a:lnSpc>
              <a:spcBef>
                <a:spcPct val="0"/>
              </a:spcBef>
            </a:pPr>
            <a:r>
              <a:rPr lang="en-US" b="true" sz="5193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ACP + KMeans Clustering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8449" y="2868336"/>
            <a:ext cx="8836407" cy="2091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8"/>
              </a:lnSpc>
            </a:pPr>
            <a:r>
              <a:rPr lang="en-US" sz="23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Réduction dimensionnelle ACP </a:t>
            </a:r>
          </a:p>
          <a:p>
            <a:pPr algn="just" marL="0" indent="0" lvl="0">
              <a:lnSpc>
                <a:spcPts val="3358"/>
              </a:lnSpc>
            </a:pPr>
            <a:r>
              <a:rPr lang="en-US" sz="23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Test K = 2 à 10 clusters</a:t>
            </a:r>
          </a:p>
          <a:p>
            <a:pPr algn="just" marL="0" indent="0" lvl="0">
              <a:lnSpc>
                <a:spcPts val="3358"/>
              </a:lnSpc>
            </a:pPr>
            <a:r>
              <a:rPr lang="en-US" sz="23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Métriques : Silhouette,</a:t>
            </a:r>
          </a:p>
          <a:p>
            <a:pPr algn="just" marL="0" indent="0" lvl="0">
              <a:lnSpc>
                <a:spcPts val="3358"/>
              </a:lnSpc>
            </a:pPr>
            <a:r>
              <a:rPr lang="en-US" sz="23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K = 4 retenu (meilleur compromis)</a:t>
            </a:r>
          </a:p>
          <a:p>
            <a:pPr algn="just" marL="0" indent="0" lvl="0">
              <a:lnSpc>
                <a:spcPts val="3358"/>
              </a:lnSpc>
            </a:pPr>
            <a:r>
              <a:rPr lang="en-US" sz="23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• Visualisation 2D des segments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02888" y="5125327"/>
            <a:ext cx="4626736" cy="4203977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629447" y="5203909"/>
            <a:ext cx="6029808" cy="4332508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10795821" y="2935011"/>
            <a:ext cx="6383965" cy="5622953"/>
            <a:chOff x="0" y="0"/>
            <a:chExt cx="2721368" cy="23969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21368" cy="2396963"/>
            </a:xfrm>
            <a:custGeom>
              <a:avLst/>
              <a:gdLst/>
              <a:ahLst/>
              <a:cxnLst/>
              <a:rect r="r" b="b" t="t" l="l"/>
              <a:pathLst>
                <a:path h="2396963" w="2721368">
                  <a:moveTo>
                    <a:pt x="48509" y="0"/>
                  </a:moveTo>
                  <a:lnTo>
                    <a:pt x="2672860" y="0"/>
                  </a:lnTo>
                  <a:cubicBezTo>
                    <a:pt x="2699650" y="0"/>
                    <a:pt x="2721368" y="21718"/>
                    <a:pt x="2721368" y="48509"/>
                  </a:cubicBezTo>
                  <a:lnTo>
                    <a:pt x="2721368" y="2348455"/>
                  </a:lnTo>
                  <a:cubicBezTo>
                    <a:pt x="2721368" y="2375245"/>
                    <a:pt x="2699650" y="2396963"/>
                    <a:pt x="2672860" y="2396963"/>
                  </a:cubicBezTo>
                  <a:lnTo>
                    <a:pt x="48509" y="2396963"/>
                  </a:lnTo>
                  <a:cubicBezTo>
                    <a:pt x="21718" y="2396963"/>
                    <a:pt x="0" y="2375245"/>
                    <a:pt x="0" y="2348455"/>
                  </a:cubicBezTo>
                  <a:lnTo>
                    <a:pt x="0" y="48509"/>
                  </a:lnTo>
                  <a:cubicBezTo>
                    <a:pt x="0" y="21718"/>
                    <a:pt x="21718" y="0"/>
                    <a:pt x="48509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721368" cy="2444588"/>
            </a:xfrm>
            <a:prstGeom prst="rect">
              <a:avLst/>
            </a:prstGeom>
          </p:spPr>
          <p:txBody>
            <a:bodyPr anchor="ctr" rtlCol="false" tIns="31386" lIns="31386" bIns="31386" rIns="31386"/>
            <a:lstStyle/>
            <a:p>
              <a:pPr algn="ctr" marL="0" indent="0" lvl="0">
                <a:lnSpc>
                  <a:spcPts val="325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019021" y="3476096"/>
            <a:ext cx="5952908" cy="30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46"/>
              </a:lnSpc>
              <a:spcBef>
                <a:spcPct val="0"/>
              </a:spcBef>
            </a:pPr>
            <a:r>
              <a:rPr lang="en-US" sz="16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Inertie élevée | Clusters trop larges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19021" y="3058068"/>
            <a:ext cx="5952908" cy="416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49"/>
              </a:lnSpc>
            </a:pPr>
            <a:r>
              <a:rPr lang="en-US" b="true" sz="2392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K=2 : Silhouette 0.42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19021" y="4874368"/>
            <a:ext cx="5952908" cy="340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66"/>
              </a:lnSpc>
              <a:spcBef>
                <a:spcPct val="0"/>
              </a:spcBef>
            </a:pPr>
            <a:r>
              <a:rPr lang="en-US" sz="19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Optimal retenu | Segments distincts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19021" y="4456340"/>
            <a:ext cx="5952908" cy="416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49"/>
              </a:lnSpc>
            </a:pPr>
            <a:r>
              <a:rPr lang="en-US" b="true" sz="2392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K=4 : Silhouette 0.58 ✓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19021" y="6274255"/>
            <a:ext cx="5952908" cy="30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46"/>
              </a:lnSpc>
              <a:spcBef>
                <a:spcPct val="0"/>
              </a:spcBef>
            </a:pPr>
            <a:r>
              <a:rPr lang="en-US" sz="16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Sur-segmentation | Clusters redondants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19021" y="5856226"/>
            <a:ext cx="5952908" cy="46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69"/>
              </a:lnSpc>
            </a:pPr>
            <a:r>
              <a:rPr lang="en-US" b="true" sz="2692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K=6 : Silhouette 0.51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19021" y="7674141"/>
            <a:ext cx="5952908" cy="30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46"/>
              </a:lnSpc>
              <a:spcBef>
                <a:spcPct val="0"/>
              </a:spcBef>
            </a:pPr>
            <a:r>
              <a:rPr lang="en-US" sz="16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Fragmentation excessive | Interprétation difficile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19021" y="7246588"/>
            <a:ext cx="5952908" cy="49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09"/>
              </a:lnSpc>
            </a:pPr>
            <a:r>
              <a:rPr lang="en-US" b="true" sz="2792">
                <a:solidFill>
                  <a:srgbClr val="004CC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K=10 : Silhouette 0.38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2871075">
            <a:off x="15648972" y="-2113556"/>
            <a:ext cx="4577126" cy="4516547"/>
          </a:xfrm>
          <a:custGeom>
            <a:avLst/>
            <a:gdLst/>
            <a:ahLst/>
            <a:cxnLst/>
            <a:rect r="r" b="b" t="t" l="l"/>
            <a:pathLst>
              <a:path h="4516547" w="4577126">
                <a:moveTo>
                  <a:pt x="0" y="0"/>
                </a:moveTo>
                <a:lnTo>
                  <a:pt x="4577126" y="0"/>
                </a:lnTo>
                <a:lnTo>
                  <a:pt x="4577126" y="4516546"/>
                </a:lnTo>
                <a:lnTo>
                  <a:pt x="0" y="4516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6117" y="502265"/>
            <a:ext cx="16566665" cy="9646382"/>
            <a:chOff x="0" y="0"/>
            <a:chExt cx="4050324" cy="23584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50324" cy="2358409"/>
            </a:xfrm>
            <a:custGeom>
              <a:avLst/>
              <a:gdLst/>
              <a:ahLst/>
              <a:cxnLst/>
              <a:rect r="r" b="b" t="t" l="l"/>
              <a:pathLst>
                <a:path h="2358409" w="4050324">
                  <a:moveTo>
                    <a:pt x="46732" y="0"/>
                  </a:moveTo>
                  <a:lnTo>
                    <a:pt x="4003592" y="0"/>
                  </a:lnTo>
                  <a:cubicBezTo>
                    <a:pt x="4015986" y="0"/>
                    <a:pt x="4027873" y="4924"/>
                    <a:pt x="4036637" y="13687"/>
                  </a:cubicBezTo>
                  <a:cubicBezTo>
                    <a:pt x="4045401" y="22451"/>
                    <a:pt x="4050324" y="34338"/>
                    <a:pt x="4050324" y="46732"/>
                  </a:cubicBezTo>
                  <a:lnTo>
                    <a:pt x="4050324" y="2311677"/>
                  </a:lnTo>
                  <a:cubicBezTo>
                    <a:pt x="4050324" y="2324071"/>
                    <a:pt x="4045401" y="2335958"/>
                    <a:pt x="4036637" y="2344721"/>
                  </a:cubicBezTo>
                  <a:cubicBezTo>
                    <a:pt x="4027873" y="2353485"/>
                    <a:pt x="4015986" y="2358409"/>
                    <a:pt x="4003592" y="2358409"/>
                  </a:cubicBezTo>
                  <a:lnTo>
                    <a:pt x="46732" y="2358409"/>
                  </a:lnTo>
                  <a:cubicBezTo>
                    <a:pt x="34338" y="2358409"/>
                    <a:pt x="22451" y="2353485"/>
                    <a:pt x="13687" y="2344721"/>
                  </a:cubicBezTo>
                  <a:cubicBezTo>
                    <a:pt x="4924" y="2335958"/>
                    <a:pt x="0" y="2324071"/>
                    <a:pt x="0" y="2311677"/>
                  </a:cubicBezTo>
                  <a:lnTo>
                    <a:pt x="0" y="46732"/>
                  </a:lnTo>
                  <a:cubicBezTo>
                    <a:pt x="0" y="34338"/>
                    <a:pt x="4924" y="22451"/>
                    <a:pt x="13687" y="13687"/>
                  </a:cubicBezTo>
                  <a:cubicBezTo>
                    <a:pt x="22451" y="4924"/>
                    <a:pt x="34338" y="0"/>
                    <a:pt x="46732" y="0"/>
                  </a:cubicBezTo>
                  <a:close/>
                </a:path>
              </a:pathLst>
            </a:custGeom>
            <a:solidFill>
              <a:srgbClr val="004CC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050324" cy="2406034"/>
            </a:xfrm>
            <a:prstGeom prst="rect">
              <a:avLst/>
            </a:prstGeom>
          </p:spPr>
          <p:txBody>
            <a:bodyPr anchor="ctr" rtlCol="false" tIns="52405" lIns="52405" bIns="52405" rIns="52405"/>
            <a:lstStyle/>
            <a:p>
              <a:pPr algn="ctr" marL="0" indent="0" lvl="0">
                <a:lnSpc>
                  <a:spcPts val="325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639124" y="-178894"/>
            <a:ext cx="4896659" cy="4896659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0"/>
                  </a:moveTo>
                  <a:cubicBezTo>
                    <a:pt x="0" y="3506470"/>
                    <a:pt x="2843530" y="6350000"/>
                    <a:pt x="6350000" y="6350000"/>
                  </a:cubicBezTo>
                  <a:lnTo>
                    <a:pt x="63500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  <a:ln w="142875" cap="sq">
              <a:solidFill>
                <a:srgbClr val="5A93F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247783" y="-178894"/>
            <a:ext cx="4896659" cy="4896659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0"/>
                  </a:moveTo>
                  <a:lnTo>
                    <a:pt x="0" y="6350000"/>
                  </a:lnTo>
                  <a:cubicBezTo>
                    <a:pt x="3506470" y="6350000"/>
                    <a:pt x="6350000" y="3506470"/>
                    <a:pt x="6350000" y="0"/>
                  </a:cubicBez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w="142875" cap="sq">
              <a:solidFill>
                <a:srgbClr val="5A93F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4846732" y="1652535"/>
            <a:ext cx="8671088" cy="2012164"/>
            <a:chOff x="0" y="0"/>
            <a:chExt cx="2137744" cy="4960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7744" cy="496073"/>
            </a:xfrm>
            <a:custGeom>
              <a:avLst/>
              <a:gdLst/>
              <a:ahLst/>
              <a:cxnLst/>
              <a:rect r="r" b="b" t="t" l="l"/>
              <a:pathLst>
                <a:path h="496073" w="2137744">
                  <a:moveTo>
                    <a:pt x="89284" y="0"/>
                  </a:moveTo>
                  <a:lnTo>
                    <a:pt x="2048460" y="0"/>
                  </a:lnTo>
                  <a:cubicBezTo>
                    <a:pt x="2097770" y="0"/>
                    <a:pt x="2137744" y="39974"/>
                    <a:pt x="2137744" y="89284"/>
                  </a:cubicBezTo>
                  <a:lnTo>
                    <a:pt x="2137744" y="406789"/>
                  </a:lnTo>
                  <a:cubicBezTo>
                    <a:pt x="2137744" y="430468"/>
                    <a:pt x="2128338" y="453178"/>
                    <a:pt x="2111594" y="469922"/>
                  </a:cubicBezTo>
                  <a:cubicBezTo>
                    <a:pt x="2094849" y="486666"/>
                    <a:pt x="2072140" y="496073"/>
                    <a:pt x="2048460" y="496073"/>
                  </a:cubicBezTo>
                  <a:lnTo>
                    <a:pt x="89284" y="496073"/>
                  </a:lnTo>
                  <a:cubicBezTo>
                    <a:pt x="39974" y="496073"/>
                    <a:pt x="0" y="456099"/>
                    <a:pt x="0" y="406789"/>
                  </a:cubicBezTo>
                  <a:lnTo>
                    <a:pt x="0" y="89284"/>
                  </a:lnTo>
                  <a:cubicBezTo>
                    <a:pt x="0" y="39974"/>
                    <a:pt x="39974" y="0"/>
                    <a:pt x="89284" y="0"/>
                  </a:cubicBezTo>
                  <a:close/>
                </a:path>
              </a:pathLst>
            </a:custGeom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137744" cy="543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8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120603" y="1998966"/>
            <a:ext cx="8123347" cy="1366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0"/>
              </a:lnSpc>
            </a:pPr>
            <a:r>
              <a:rPr lang="en-US" b="true" sz="4882">
                <a:solidFill>
                  <a:srgbClr val="FFFF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Segments Clients — 4 Clusters Identifiés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20603" y="6054438"/>
            <a:ext cx="4452966" cy="147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14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• Panier moyen élevé</a:t>
            </a:r>
          </a:p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14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• Fréquence achat haute</a:t>
            </a:r>
          </a:p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14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• Churn faible (12%)</a:t>
            </a:r>
          </a:p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14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→ Programme VIP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46483" y="5089141"/>
            <a:ext cx="4452966" cy="42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88"/>
              </a:lnSpc>
            </a:pPr>
            <a:r>
              <a:rPr lang="en-US" b="true" sz="242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Cluster 1 — Fidèles Premium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43949" y="5447470"/>
            <a:ext cx="3109799" cy="128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9"/>
              </a:lnSpc>
              <a:spcBef>
                <a:spcPct val="0"/>
              </a:spcBef>
            </a:pPr>
            <a:r>
              <a:rPr lang="en-US" sz="244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VIP</a:t>
            </a:r>
            <a:r>
              <a:rPr lang="en-US" sz="244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à risque — Meilleurs clients mais volatiles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64854" y="4907185"/>
            <a:ext cx="4452966" cy="42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88"/>
              </a:lnSpc>
            </a:pPr>
            <a:r>
              <a:rPr lang="en-US" b="true" sz="242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Cluster 2 — À Risque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43949" y="4904395"/>
            <a:ext cx="1644133" cy="42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88"/>
              </a:lnSpc>
            </a:pPr>
            <a:r>
              <a:rPr lang="en-US" b="true" sz="242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Cluster 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6343" y="5089141"/>
            <a:ext cx="4452966" cy="415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9"/>
              </a:lnSpc>
              <a:spcBef>
                <a:spcPct val="0"/>
              </a:spcBef>
            </a:pPr>
            <a:r>
              <a:rPr lang="en-US" b="true" sz="2392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Clus</a:t>
            </a:r>
            <a:r>
              <a:rPr lang="en-US" b="true" sz="2392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ter 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5519" y="5876095"/>
            <a:ext cx="3927003" cy="83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9"/>
              </a:lnSpc>
              <a:spcBef>
                <a:spcPct val="0"/>
              </a:spcBef>
            </a:pPr>
            <a:r>
              <a:rPr lang="en-US" b="true" sz="2392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Dormants perdus — Inactifs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99450" y="5656198"/>
            <a:ext cx="4509235" cy="83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9"/>
              </a:lnSpc>
              <a:spcBef>
                <a:spcPct val="0"/>
              </a:spcBef>
            </a:pPr>
            <a:r>
              <a:rPr lang="en-US" b="true" sz="2392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Réguliers — Acheteurs occasionnels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88449" y="1123950"/>
            <a:ext cx="7466684" cy="1423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4"/>
              </a:lnSpc>
              <a:spcBef>
                <a:spcPct val="0"/>
              </a:spcBef>
            </a:pPr>
            <a:r>
              <a:rPr lang="en-US" b="true" sz="5193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RF Classification — Résultats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8449" y="2868336"/>
            <a:ext cx="8836407" cy="1746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8"/>
              </a:lnSpc>
            </a:pPr>
            <a:r>
              <a:rPr lang="en-US" sz="2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Objectif</a:t>
            </a:r>
            <a:r>
              <a:rPr lang="en-US" sz="2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: Prédire si un client va partir (Churn) ou rester</a:t>
            </a:r>
          </a:p>
          <a:p>
            <a:pPr algn="just" marL="539443" indent="-269722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Type : Classification Binaire (0 = Retenu | 1 = Parti)</a:t>
            </a:r>
          </a:p>
          <a:p>
            <a:pPr algn="just" marL="539443" indent="-269722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Usage : Détecter les clients à risque de départ</a:t>
            </a:r>
          </a:p>
          <a:p>
            <a:pPr algn="just" marL="0" indent="0" lvl="0">
              <a:lnSpc>
                <a:spcPts val="3498"/>
              </a:lnSpc>
            </a:pP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02888" y="5125327"/>
            <a:ext cx="4626736" cy="4203977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629447" y="5203909"/>
            <a:ext cx="6029808" cy="4332508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2871075">
            <a:off x="15624461" y="-2193613"/>
            <a:ext cx="4705921" cy="4670626"/>
          </a:xfrm>
          <a:custGeom>
            <a:avLst/>
            <a:gdLst/>
            <a:ahLst/>
            <a:cxnLst/>
            <a:rect r="r" b="b" t="t" l="l"/>
            <a:pathLst>
              <a:path h="4670626" w="4705921">
                <a:moveTo>
                  <a:pt x="0" y="0"/>
                </a:moveTo>
                <a:lnTo>
                  <a:pt x="4705921" y="0"/>
                </a:lnTo>
                <a:lnTo>
                  <a:pt x="4705921" y="4670626"/>
                </a:lnTo>
                <a:lnTo>
                  <a:pt x="0" y="4670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98589" y="1085850"/>
            <a:ext cx="8758182" cy="1423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4"/>
              </a:lnSpc>
              <a:spcBef>
                <a:spcPct val="0"/>
              </a:spcBef>
            </a:pPr>
            <a:r>
              <a:rPr lang="en-US" b="true" sz="5193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Random Forest Regressor</a:t>
            </a:r>
          </a:p>
          <a:p>
            <a:pPr algn="l" marL="0" indent="0" lvl="0">
              <a:lnSpc>
                <a:spcPts val="550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88449" y="2868336"/>
            <a:ext cx="8836407" cy="218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8"/>
              </a:lnSpc>
            </a:pPr>
            <a:r>
              <a:rPr lang="en-US" sz="2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Objectif</a:t>
            </a:r>
            <a:r>
              <a:rPr lang="en-US" sz="2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: Prédire la valeur monétaire d'un client (combien il va dépenser)</a:t>
            </a:r>
          </a:p>
          <a:p>
            <a:pPr algn="just" marL="539443" indent="-269722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Type : Régression Continue (valeur en €/unité)</a:t>
            </a:r>
          </a:p>
          <a:p>
            <a:pPr algn="just" marL="539443" indent="-269722" lvl="1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Usage : Estimer le Customer Lifetime Value (CLV)</a:t>
            </a:r>
          </a:p>
          <a:p>
            <a:pPr algn="just" marL="0" indent="0" lvl="0">
              <a:lnSpc>
                <a:spcPts val="3498"/>
              </a:lnSpc>
            </a:pP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02888" y="5125327"/>
            <a:ext cx="4626736" cy="4203977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629447" y="5203909"/>
            <a:ext cx="6029808" cy="4332508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2871075">
            <a:off x="15624461" y="-2193613"/>
            <a:ext cx="4705921" cy="4670626"/>
          </a:xfrm>
          <a:custGeom>
            <a:avLst/>
            <a:gdLst/>
            <a:ahLst/>
            <a:cxnLst/>
            <a:rect r="r" b="b" t="t" l="l"/>
            <a:pathLst>
              <a:path h="4670626" w="4705921">
                <a:moveTo>
                  <a:pt x="0" y="0"/>
                </a:moveTo>
                <a:lnTo>
                  <a:pt x="4705921" y="0"/>
                </a:lnTo>
                <a:lnTo>
                  <a:pt x="4705921" y="4670626"/>
                </a:lnTo>
                <a:lnTo>
                  <a:pt x="0" y="4670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871075">
            <a:off x="15648972" y="-2113556"/>
            <a:ext cx="4577126" cy="4516547"/>
          </a:xfrm>
          <a:custGeom>
            <a:avLst/>
            <a:gdLst/>
            <a:ahLst/>
            <a:cxnLst/>
            <a:rect r="r" b="b" t="t" l="l"/>
            <a:pathLst>
              <a:path h="4516547" w="4577126">
                <a:moveTo>
                  <a:pt x="0" y="0"/>
                </a:moveTo>
                <a:lnTo>
                  <a:pt x="4577126" y="0"/>
                </a:lnTo>
                <a:lnTo>
                  <a:pt x="4577126" y="4516546"/>
                </a:lnTo>
                <a:lnTo>
                  <a:pt x="0" y="4516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5841389" y="624867"/>
            <a:ext cx="4117181" cy="905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7"/>
              </a:lnSpc>
              <a:spcBef>
                <a:spcPct val="0"/>
              </a:spcBef>
            </a:pPr>
            <a:r>
              <a:rPr lang="en-US" b="true" sz="5227" i="true">
                <a:solidFill>
                  <a:srgbClr val="004CCF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 Déploiement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43935" y="2000222"/>
            <a:ext cx="10164723" cy="3277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7"/>
              </a:lnSpc>
              <a:spcBef>
                <a:spcPct val="0"/>
              </a:spcBef>
            </a:pPr>
            <a:r>
              <a:rPr lang="en-US" b="true" sz="3727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Backend : Flask (Python) </a:t>
            </a:r>
          </a:p>
          <a:p>
            <a:pPr algn="ctr">
              <a:lnSpc>
                <a:spcPts val="5217"/>
              </a:lnSpc>
              <a:spcBef>
                <a:spcPct val="0"/>
              </a:spcBef>
            </a:pPr>
            <a:r>
              <a:rPr lang="en-US" b="true" sz="3727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• Chargement des modèles .pkl en mémoire</a:t>
            </a:r>
          </a:p>
          <a:p>
            <a:pPr algn="ctr">
              <a:lnSpc>
                <a:spcPts val="5217"/>
              </a:lnSpc>
              <a:spcBef>
                <a:spcPct val="0"/>
              </a:spcBef>
            </a:pPr>
            <a:r>
              <a:rPr lang="en-US" b="true" sz="3727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• API REST : GET /,  • Sans framework externe</a:t>
            </a:r>
          </a:p>
          <a:p>
            <a:pPr algn="ctr">
              <a:lnSpc>
                <a:spcPts val="5217"/>
              </a:lnSpc>
              <a:spcBef>
                <a:spcPct val="0"/>
              </a:spcBef>
            </a:pPr>
            <a:r>
              <a:rPr lang="en-US" b="true" sz="3727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• Utilisable sans compétences techniques</a:t>
            </a:r>
          </a:p>
          <a:p>
            <a:pPr algn="ctr">
              <a:lnSpc>
                <a:spcPts val="521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871075">
            <a:off x="15648972" y="-2113556"/>
            <a:ext cx="4577126" cy="4516547"/>
          </a:xfrm>
          <a:custGeom>
            <a:avLst/>
            <a:gdLst/>
            <a:ahLst/>
            <a:cxnLst/>
            <a:rect r="r" b="b" t="t" l="l"/>
            <a:pathLst>
              <a:path h="4516547" w="4577126">
                <a:moveTo>
                  <a:pt x="0" y="0"/>
                </a:moveTo>
                <a:lnTo>
                  <a:pt x="4577126" y="0"/>
                </a:lnTo>
                <a:lnTo>
                  <a:pt x="4577126" y="4516546"/>
                </a:lnTo>
                <a:lnTo>
                  <a:pt x="0" y="4516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166310" y="624867"/>
            <a:ext cx="3467338" cy="905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7"/>
              </a:lnSpc>
              <a:spcBef>
                <a:spcPct val="0"/>
              </a:spcBef>
            </a:pPr>
            <a:r>
              <a:rPr lang="en-US" b="true" sz="5227" i="true">
                <a:solidFill>
                  <a:srgbClr val="004CCF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000222"/>
            <a:ext cx="16852592" cy="5906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04681" indent="-402341" lvl="1">
              <a:lnSpc>
                <a:spcPts val="5217"/>
              </a:lnSpc>
              <a:spcBef>
                <a:spcPct val="0"/>
              </a:spcBef>
              <a:buAutoNum type="arabicPeriod" startAt="1"/>
            </a:pPr>
            <a:r>
              <a:rPr lang="en-US" b="true" sz="3727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Nous </a:t>
            </a:r>
            <a:r>
              <a:rPr lang="en-US" b="true" sz="3727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avons construit un système ML production-ready qui détecte les clients à risque de départ et segmente la clientèle en 4 groupes stratégiques.</a:t>
            </a:r>
          </a:p>
          <a:p>
            <a:pPr algn="ctr" marL="804681" indent="-402341" lvl="1">
              <a:lnSpc>
                <a:spcPts val="5217"/>
              </a:lnSpc>
              <a:spcBef>
                <a:spcPct val="0"/>
              </a:spcBef>
              <a:buAutoNum type="arabicPeriod" startAt="1"/>
            </a:pPr>
            <a:r>
              <a:rPr lang="en-US" b="true" sz="3727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Les données ont été rigoureusement nettoyées : </a:t>
            </a:r>
          </a:p>
          <a:p>
            <a:pPr algn="ctr" marL="804681" indent="-402341" lvl="1">
              <a:lnSpc>
                <a:spcPts val="5217"/>
              </a:lnSpc>
              <a:spcBef>
                <a:spcPct val="0"/>
              </a:spcBef>
              <a:buAutoNum type="arabicPeriod" startAt="1"/>
            </a:pPr>
            <a:r>
              <a:rPr lang="en-US" b="true" sz="3727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 modèles performants déployés : Classifier (ROC-AUC=1.0), Clustering (4 segments), Regressor (R²=60.8%).</a:t>
            </a:r>
          </a:p>
          <a:p>
            <a:pPr algn="ctr" marL="804681" indent="-402341" lvl="1">
              <a:lnSpc>
                <a:spcPts val="5217"/>
              </a:lnSpc>
              <a:spcBef>
                <a:spcPct val="0"/>
              </a:spcBef>
              <a:buAutoNum type="arabicPeriod" startAt="1"/>
            </a:pPr>
            <a:r>
              <a:rPr lang="en-US" b="true" sz="3727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Impact immédiat : Actions de rétention ciblées par cluster, prédictions temps réel .</a:t>
            </a:r>
          </a:p>
          <a:p>
            <a:pPr algn="ctr">
              <a:lnSpc>
                <a:spcPts val="521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891960"/>
            <a:chOff x="0" y="0"/>
            <a:chExt cx="4816593" cy="7616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761668"/>
            </a:xfrm>
            <a:custGeom>
              <a:avLst/>
              <a:gdLst/>
              <a:ahLst/>
              <a:cxnLst/>
              <a:rect r="r" b="b" t="t" l="l"/>
              <a:pathLst>
                <a:path h="76166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61668"/>
                  </a:lnTo>
                  <a:lnTo>
                    <a:pt x="0" y="761668"/>
                  </a:lnTo>
                  <a:close/>
                </a:path>
              </a:pathLst>
            </a:custGeom>
            <a:solidFill>
              <a:srgbClr val="0E62F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809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356888" y="-215362"/>
            <a:ext cx="9574225" cy="4787112"/>
            <a:chOff x="0" y="0"/>
            <a:chExt cx="6350000" cy="317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6350000">
                  <a:moveTo>
                    <a:pt x="3175000" y="3175000"/>
                  </a:moveTo>
                  <a:cubicBezTo>
                    <a:pt x="1421498" y="3175000"/>
                    <a:pt x="0" y="1753502"/>
                    <a:pt x="0" y="0"/>
                  </a:cubicBezTo>
                  <a:lnTo>
                    <a:pt x="6350000" y="0"/>
                  </a:lnTo>
                  <a:cubicBezTo>
                    <a:pt x="6350000" y="1753502"/>
                    <a:pt x="4928502" y="3175000"/>
                    <a:pt x="3175000" y="3175000"/>
                  </a:cubicBezTo>
                  <a:close/>
                </a:path>
              </a:pathLst>
            </a:custGeom>
            <a:blipFill>
              <a:blip r:embed="rId3"/>
              <a:stretch>
                <a:fillRect l="0" t="-7000" r="0" b="-7000"/>
              </a:stretch>
            </a:blipFill>
            <a:ln w="190500" cap="sq">
              <a:solidFill>
                <a:srgbClr val="0E62F2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3441647">
            <a:off x="15731462" y="4847411"/>
            <a:ext cx="6394424" cy="6386431"/>
          </a:xfrm>
          <a:custGeom>
            <a:avLst/>
            <a:gdLst/>
            <a:ahLst/>
            <a:cxnLst/>
            <a:rect r="r" b="b" t="t" l="l"/>
            <a:pathLst>
              <a:path h="6386431" w="6394424">
                <a:moveTo>
                  <a:pt x="0" y="0"/>
                </a:moveTo>
                <a:lnTo>
                  <a:pt x="6394424" y="0"/>
                </a:lnTo>
                <a:lnTo>
                  <a:pt x="6394424" y="6386431"/>
                </a:lnTo>
                <a:lnTo>
                  <a:pt x="0" y="63864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true" flipV="false" rot="-3444000">
            <a:off x="-3838550" y="4847411"/>
            <a:ext cx="6394424" cy="6386431"/>
          </a:xfrm>
          <a:custGeom>
            <a:avLst/>
            <a:gdLst/>
            <a:ahLst/>
            <a:cxnLst/>
            <a:rect r="r" b="b" t="t" l="l"/>
            <a:pathLst>
              <a:path h="6386431" w="6394424">
                <a:moveTo>
                  <a:pt x="6394424" y="0"/>
                </a:moveTo>
                <a:lnTo>
                  <a:pt x="0" y="0"/>
                </a:lnTo>
                <a:lnTo>
                  <a:pt x="0" y="6386431"/>
                </a:lnTo>
                <a:lnTo>
                  <a:pt x="6394424" y="6386431"/>
                </a:lnTo>
                <a:lnTo>
                  <a:pt x="63944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1028700" y="9921148"/>
            <a:ext cx="16230600" cy="3086100"/>
            <a:chOff x="0" y="0"/>
            <a:chExt cx="4274726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74726" cy="812800"/>
            </a:xfrm>
            <a:custGeom>
              <a:avLst/>
              <a:gdLst/>
              <a:ahLst/>
              <a:cxnLst/>
              <a:rect r="r" b="b" t="t" l="l"/>
              <a:pathLst>
                <a:path h="812800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E62F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274726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5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753427" y="6798319"/>
            <a:ext cx="10781146" cy="1810422"/>
            <a:chOff x="0" y="0"/>
            <a:chExt cx="2211245" cy="3713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1245" cy="371323"/>
            </a:xfrm>
            <a:custGeom>
              <a:avLst/>
              <a:gdLst/>
              <a:ahLst/>
              <a:cxnLst/>
              <a:rect r="r" b="b" t="t" l="l"/>
              <a:pathLst>
                <a:path h="371323" w="2211245">
                  <a:moveTo>
                    <a:pt x="17234" y="0"/>
                  </a:moveTo>
                  <a:lnTo>
                    <a:pt x="2194011" y="0"/>
                  </a:lnTo>
                  <a:cubicBezTo>
                    <a:pt x="2198581" y="0"/>
                    <a:pt x="2202965" y="1816"/>
                    <a:pt x="2206197" y="5048"/>
                  </a:cubicBezTo>
                  <a:cubicBezTo>
                    <a:pt x="2209429" y="8280"/>
                    <a:pt x="2211245" y="12664"/>
                    <a:pt x="2211245" y="17234"/>
                  </a:cubicBezTo>
                  <a:lnTo>
                    <a:pt x="2211245" y="354089"/>
                  </a:lnTo>
                  <a:cubicBezTo>
                    <a:pt x="2211245" y="358659"/>
                    <a:pt x="2209429" y="363043"/>
                    <a:pt x="2206197" y="366275"/>
                  </a:cubicBezTo>
                  <a:cubicBezTo>
                    <a:pt x="2202965" y="369507"/>
                    <a:pt x="2198581" y="371323"/>
                    <a:pt x="2194011" y="371323"/>
                  </a:cubicBezTo>
                  <a:lnTo>
                    <a:pt x="17234" y="371323"/>
                  </a:lnTo>
                  <a:cubicBezTo>
                    <a:pt x="7716" y="371323"/>
                    <a:pt x="0" y="363607"/>
                    <a:pt x="0" y="354089"/>
                  </a:cubicBezTo>
                  <a:lnTo>
                    <a:pt x="0" y="17234"/>
                  </a:lnTo>
                  <a:cubicBezTo>
                    <a:pt x="0" y="12664"/>
                    <a:pt x="1816" y="8280"/>
                    <a:pt x="5048" y="5048"/>
                  </a:cubicBezTo>
                  <a:cubicBezTo>
                    <a:pt x="8280" y="1816"/>
                    <a:pt x="12664" y="0"/>
                    <a:pt x="17234" y="0"/>
                  </a:cubicBezTo>
                  <a:close/>
                </a:path>
              </a:pathLst>
            </a:custGeom>
            <a:ln w="66675" cap="rnd">
              <a:solidFill>
                <a:srgbClr val="0E62F2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211245" cy="418948"/>
            </a:xfrm>
            <a:prstGeom prst="rect">
              <a:avLst/>
            </a:prstGeom>
          </p:spPr>
          <p:txBody>
            <a:bodyPr anchor="ctr" rtlCol="false" tIns="55632" lIns="55632" bIns="55632" rIns="55632"/>
            <a:lstStyle/>
            <a:p>
              <a:pPr algn="ctr" marL="0" indent="0" lvl="0">
                <a:lnSpc>
                  <a:spcPts val="325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238474" y="7105895"/>
            <a:ext cx="519415" cy="519415"/>
          </a:xfrm>
          <a:custGeom>
            <a:avLst/>
            <a:gdLst/>
            <a:ahLst/>
            <a:cxnLst/>
            <a:rect r="r" b="b" t="t" l="l"/>
            <a:pathLst>
              <a:path h="519415" w="519415">
                <a:moveTo>
                  <a:pt x="0" y="0"/>
                </a:moveTo>
                <a:lnTo>
                  <a:pt x="519415" y="0"/>
                </a:lnTo>
                <a:lnTo>
                  <a:pt x="519415" y="519415"/>
                </a:lnTo>
                <a:lnTo>
                  <a:pt x="0" y="519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4238474" y="7703530"/>
            <a:ext cx="519415" cy="519415"/>
          </a:xfrm>
          <a:custGeom>
            <a:avLst/>
            <a:gdLst/>
            <a:ahLst/>
            <a:cxnLst/>
            <a:rect r="r" b="b" t="t" l="l"/>
            <a:pathLst>
              <a:path h="519415" w="519415">
                <a:moveTo>
                  <a:pt x="0" y="0"/>
                </a:moveTo>
                <a:lnTo>
                  <a:pt x="519415" y="0"/>
                </a:lnTo>
                <a:lnTo>
                  <a:pt x="519415" y="519415"/>
                </a:lnTo>
                <a:lnTo>
                  <a:pt x="0" y="519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4940445" y="7655905"/>
            <a:ext cx="4438124" cy="393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97"/>
              </a:lnSpc>
            </a:pPr>
            <a:r>
              <a:rPr lang="en-US" sz="228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Département Génie Informatique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31276" y="7124318"/>
            <a:ext cx="4483946" cy="393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97"/>
              </a:lnSpc>
            </a:pPr>
            <a:r>
              <a:rPr lang="en-US" sz="228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Équipe ML GI2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72688" y="5156278"/>
            <a:ext cx="10742624" cy="121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341"/>
              </a:lnSpc>
              <a:spcBef>
                <a:spcPct val="0"/>
              </a:spcBef>
            </a:pPr>
            <a:r>
              <a:rPr lang="en-US" b="true" sz="8812">
                <a:solidFill>
                  <a:srgbClr val="004CC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Merci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DAHIPalwe08</dc:identifier>
  <dcterms:modified xsi:type="dcterms:W3CDTF">2011-08-01T06:04:30Z</dcterms:modified>
  <cp:revision>1</cp:revision>
  <dc:title>ML</dc:title>
</cp:coreProperties>
</file>